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2" r:id="rId5"/>
    <p:sldId id="260" r:id="rId6"/>
    <p:sldId id="267" r:id="rId7"/>
    <p:sldId id="268" r:id="rId8"/>
    <p:sldId id="270" r:id="rId9"/>
    <p:sldId id="269" r:id="rId10"/>
    <p:sldId id="265" r:id="rId11"/>
    <p:sldId id="271" r:id="rId12"/>
    <p:sldId id="272" r:id="rId13"/>
    <p:sldId id="273" r:id="rId14"/>
    <p:sldId id="274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5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13640-6409-4C96-A398-EEF44426CEAF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45FAA-1913-4745-A35C-B4A5F7272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22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145FAA-1913-4745-A35C-B4A5F727293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834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108"/>
            <a:ext cx="6858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900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02CD9-BCB3-4008-8852-BEC3345C432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60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F94-7F9B-43A7-95E6-17A630A9FE1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38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004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7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4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8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4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5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7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85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1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5F21-035E-49B6-A870-EDAFCACE044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72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40D2-2434-4762-B0EF-C2A61447C80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90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538D-BF59-46DC-B4D8-61F667B5DFC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84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E90EC-7A94-4118-A709-1C434397C78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8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665F5-BEE2-4BB0-9243-84E26E3C454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87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73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3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43" indent="0">
              <a:buNone/>
              <a:defRPr sz="1500"/>
            </a:lvl2pPr>
            <a:lvl3pPr marL="914286" indent="0">
              <a:buNone/>
              <a:defRPr sz="1200"/>
            </a:lvl3pPr>
            <a:lvl4pPr marL="1371430" indent="0">
              <a:buNone/>
              <a:defRPr sz="1100"/>
            </a:lvl4pPr>
            <a:lvl5pPr marL="1828573" indent="0">
              <a:buNone/>
              <a:defRPr sz="1100"/>
            </a:lvl5pPr>
            <a:lvl6pPr marL="2285718" indent="0">
              <a:buNone/>
              <a:defRPr sz="1100"/>
            </a:lvl6pPr>
            <a:lvl7pPr marL="2742858" indent="0">
              <a:buNone/>
              <a:defRPr sz="1100"/>
            </a:lvl7pPr>
            <a:lvl8pPr marL="3200000" indent="0">
              <a:buNone/>
              <a:defRPr sz="1100"/>
            </a:lvl8pPr>
            <a:lvl9pPr marL="3657143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C65A-E9BA-45CD-9019-B21F5BBCC9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49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73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30" indent="0">
              <a:buNone/>
              <a:defRPr sz="2000"/>
            </a:lvl4pPr>
            <a:lvl5pPr marL="1828573" indent="0">
              <a:buNone/>
              <a:defRPr sz="2000"/>
            </a:lvl5pPr>
            <a:lvl6pPr marL="2285718" indent="0">
              <a:buNone/>
              <a:defRPr sz="2000"/>
            </a:lvl6pPr>
            <a:lvl7pPr marL="2742858" indent="0">
              <a:buNone/>
              <a:defRPr sz="2000"/>
            </a:lvl7pPr>
            <a:lvl8pPr marL="3200000" indent="0">
              <a:buNone/>
              <a:defRPr sz="2000"/>
            </a:lvl8pPr>
            <a:lvl9pPr marL="3657143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3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43" indent="0">
              <a:buNone/>
              <a:defRPr sz="1500"/>
            </a:lvl2pPr>
            <a:lvl3pPr marL="914286" indent="0">
              <a:buNone/>
              <a:defRPr sz="1200"/>
            </a:lvl3pPr>
            <a:lvl4pPr marL="1371430" indent="0">
              <a:buNone/>
              <a:defRPr sz="1100"/>
            </a:lvl4pPr>
            <a:lvl5pPr marL="1828573" indent="0">
              <a:buNone/>
              <a:defRPr sz="1100"/>
            </a:lvl5pPr>
            <a:lvl6pPr marL="2285718" indent="0">
              <a:buNone/>
              <a:defRPr sz="1100"/>
            </a:lvl6pPr>
            <a:lvl7pPr marL="2742858" indent="0">
              <a:buNone/>
              <a:defRPr sz="1100"/>
            </a:lvl7pPr>
            <a:lvl8pPr marL="3200000" indent="0">
              <a:buNone/>
              <a:defRPr sz="1100"/>
            </a:lvl8pPr>
            <a:lvl9pPr marL="3657143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1CF3-224C-4073-AB7A-597572F5180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77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65B2-003D-4F1E-849A-6310EFDE191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58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202"/>
            <a:ext cx="1971675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202"/>
            <a:ext cx="5800725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5F42-ED59-4ED7-AE81-9DBE8ACF922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96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30" tIns="45718" rIns="91430" bIns="45718" rtlCol="0" anchor="ctr">
            <a:normAutofit/>
          </a:bodyPr>
          <a:lstStyle/>
          <a:p>
            <a:r>
              <a:rPr lang="en-US" dirty="0" smtClean="0"/>
              <a:t>                               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30" tIns="45718" rIns="91430" bIns="45718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655"/>
            <a:ext cx="2057400" cy="365125"/>
          </a:xfrm>
          <a:prstGeom prst="rect">
            <a:avLst/>
          </a:prstGeom>
        </p:spPr>
        <p:txBody>
          <a:bodyPr vert="horz" lIns="91430" tIns="45718" rIns="91430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86"/>
            <a:fld id="{DC9983B6-4405-4C9A-834C-47C2935D610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655"/>
            <a:ext cx="3086100" cy="365125"/>
          </a:xfrm>
          <a:prstGeom prst="rect">
            <a:avLst/>
          </a:prstGeom>
        </p:spPr>
        <p:txBody>
          <a:bodyPr vert="horz" lIns="91430" tIns="45718" rIns="91430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86"/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655"/>
            <a:ext cx="2057400" cy="365125"/>
          </a:xfrm>
          <a:prstGeom prst="rect">
            <a:avLst/>
          </a:prstGeom>
        </p:spPr>
        <p:txBody>
          <a:bodyPr vert="horz" lIns="91430" tIns="45718" rIns="91430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86"/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286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C9DDECDA-AC01-47B8-B70B-458DA24787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292"/>
            <a:ext cx="2434302" cy="811435"/>
          </a:xfrm>
          <a:prstGeom prst="rect">
            <a:avLst/>
          </a:prstGeom>
        </p:spPr>
      </p:pic>
      <p:pic>
        <p:nvPicPr>
          <p:cNvPr id="8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503" y="332681"/>
            <a:ext cx="726409" cy="72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5400000">
            <a:off x="4204042" y="1939211"/>
            <a:ext cx="702416" cy="9177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5400000">
            <a:off x="5540363" y="2572804"/>
            <a:ext cx="207493" cy="699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5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286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3" indent="-228573" algn="l" defTabSz="9142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8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8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6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30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3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8" indent="-228573" algn="l" defTabSz="9142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3236"/>
            <a:ext cx="7886700" cy="1325563"/>
          </a:xfrm>
        </p:spPr>
        <p:txBody>
          <a:bodyPr>
            <a:normAutofit fontScale="90000"/>
          </a:bodyPr>
          <a:lstStyle/>
          <a:p>
            <a:pPr algn="ctr" marL="0" indent="0">
              <a:buNone/>
            </a:pPr>
            <a:r>
              <a:rPr lang="en-US" sz="2600"/>
              <a:t>HALO: Privacy-First AI Wealth Assistant</a:t>
            </a:r>
          </a:p>
          <a:p>
            <a:pPr algn="ctr" marL="0" indent="0">
              <a:buNone/>
            </a:pPr>
            <a:r>
              <a:rPr lang="en-US" sz="1500"/>
              <a:t>T.Y., B.Tech., CCE, Semester V | Mini-Project (July - November, 2025)</a:t>
            </a:r>
          </a:p>
          <a:p>
            <a:pPr algn="ctr" marL="0" indent="0">
              <a:buNone/>
            </a:pPr>
            <a:r>
              <a:rPr lang="en-US" sz="1500"/>
              <a:t>Group Number: Group 12</a:t>
            </a:r>
          </a:p>
          <a:p>
            <a:pPr algn="ctr" marL="0" indent="0">
              <a:buNone/>
            </a:pPr>
            <a:r>
              <a:rPr lang="en-US" sz="1600"/>
              <a:t>Group Members:</a:t>
            </a:r>
          </a:p>
          <a:p>
            <a:pPr algn="ctr" marL="0" indent="0">
              <a:buNone/>
            </a:pPr>
            <a:r>
              <a:rPr lang="en-US" sz="1400"/>
              <a:t>Advait Kubal (16010423001)   |   Sparsh Kumar (16010423002)</a:t>
            </a:r>
          </a:p>
          <a:p>
            <a:pPr algn="ctr" marL="0" indent="0">
              <a:buNone/>
            </a:pPr>
            <a:r>
              <a:rPr lang="en-US" sz="1400"/>
              <a:t>Swaroop Mane (16010423003)   |   Ishika Poddar (16010423004)</a:t>
            </a:r>
          </a:p>
          <a:p>
            <a:pPr algn="ctr" marL="0" indent="0">
              <a:buNone/>
            </a:pPr>
            <a:r>
              <a:rPr lang="en-US" sz="1400"/>
              <a:t>Project Guide: Prof. [Project Guide Name]</a:t>
            </a:r>
          </a:p>
          <a:p>
            <a:pPr algn="ctr" marL="0" indent="0">
              <a:buNone/>
            </a:pPr>
            <a:r>
              <a:rPr lang="en-US" sz="1300"/>
              <a:t>Department of Electronics and Telecommunication Engineering</a:t>
            </a:r>
          </a:p>
          <a:p>
            <a:pPr algn="ctr" marL="0" indent="0">
              <a:buNone/>
            </a:pPr>
            <a:r>
              <a:rPr lang="en-US" sz="1300"/>
              <a:t>K. J. Somaiya School of Engineering, Mumbai-77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190961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Domain &amp; 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z="1500"/>
              <a:t>Domain: </a:t>
            </a:r>
            <a:r>
              <a:rPr lang="en-US" sz="1500"/>
              <a:t>FinTech, Local Edge AI, Applied NLP &amp; Deterministic Computing</a:t>
            </a:r>
          </a:p>
          <a:p>
            <a:pPr marL="0" indent="0">
              <a:buNone/>
            </a:pPr>
            <a:r>
              <a:rPr lang="en-US" b="1" sz="1500"/>
              <a:t>Problem Statement:</a:t>
            </a:r>
          </a:p>
          <a:p>
            <a:pPr marL="285750" indent="-285750">
              <a:buFont typeface="Arial"/>
              <a:buChar char="•"/>
            </a:pPr>
            <a:r>
              <a:rPr lang="en-US" b="1" sz="1350"/>
              <a:t>Cloud Privacy Risks: </a:t>
            </a:r>
            <a:r>
              <a:rPr lang="en-US" sz="1350"/>
              <a:t>Commercial fintech platforms mandate cloud uploads of sensitive documents (bank statements, CAS, Form 16, PAN), exposing users to data leaks, surveillance, and loss of financial privacy.</a:t>
            </a:r>
          </a:p>
          <a:p>
            <a:pPr marL="285750" indent="-285750">
              <a:buFont typeface="Arial"/>
              <a:buChar char="•"/>
            </a:pPr>
            <a:r>
              <a:rPr lang="en-US" b="1" sz="1350"/>
              <a:t>LLM Financial Hallucinations: </a:t>
            </a:r>
            <a:r>
              <a:rPr lang="en-US" sz="1350"/>
              <a:t>Standard LLMs compute numbers probabilistically, frequently hallucinating tax brackets, compound interest, and loan amortizations, making raw generative output unsafe for finance.</a:t>
            </a:r>
          </a:p>
          <a:p>
            <a:pPr marL="285750" indent="-285750">
              <a:buFont typeface="Arial"/>
              <a:buChar char="•"/>
            </a:pPr>
            <a:r>
              <a:rPr lang="en-US" b="1" sz="1350"/>
              <a:t>Dynamic Indian Tax Regulations: </a:t>
            </a:r>
            <a:r>
              <a:rPr lang="en-US" sz="1350"/>
              <a:t>Navigating frequent statutory amendments (Budget 2024 New Regime, Section 87A rebate, Section 234 advance tax interest) leads to high manual computation error rates.</a:t>
            </a:r>
          </a:p>
          <a:p>
            <a:pPr marL="285750" indent="-285750">
              <a:buFont typeface="Arial"/>
              <a:buChar char="•"/>
            </a:pPr>
            <a:r>
              <a:rPr lang="en-US" b="1" sz="1350"/>
              <a:t>Fragmented Decision Tools: </a:t>
            </a:r>
            <a:r>
              <a:rPr lang="en-US" sz="1350"/>
              <a:t>Users are forced to juggle disconnected tools for portfolio analytics, debt payoff strategies, emergency runway, and tax filing.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184" y="6400800"/>
            <a:ext cx="3086100" cy="365125"/>
          </a:xfrm>
        </p:spPr>
        <p:txBody>
          <a:bodyPr/>
          <a:lstStyle/>
          <a:p>
            <a:pPr algn="l"/>
            <a:r>
              <a:rPr lang="pt-BR" sz="1400" dirty="0" smtClean="0">
                <a:solidFill>
                  <a:schemeClr val="bg1"/>
                </a:solidFill>
              </a:rPr>
              <a:t>Mini-project, T.Y., CCE, Sem. V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057400" cy="365125"/>
          </a:xfrm>
        </p:spPr>
        <p:txBody>
          <a:bodyPr/>
          <a:lstStyle/>
          <a:p>
            <a:fld id="{45893DA4-B502-453E-852B-0F64D80C69AF}" type="slidenum">
              <a:rPr lang="en-US" sz="1400" smtClean="0">
                <a:solidFill>
                  <a:schemeClr val="bg1"/>
                </a:solidFill>
              </a:rPr>
              <a:pPr/>
              <a:t>2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ns2:creationId val="303510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Objectives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1350"/>
              <a:t>Build a 100% on-device, air-gapped personal wealth copilot ensuring zero external data transmission.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50"/>
              <a:t>Implement a deterministic-first architecture where the local LLM routes intent while 100% of arithmetic runs in verified Python functions.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50"/>
              <a:t>Design an automated Indian Income Tax engine comparing Old vs New Regimes, Section 87A marginal relief, and advance tax penalties.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50"/>
              <a:t>Develop on-device document ingestion for CAS mutual fund PDFs and bank statements using local vector embeddings (sqlite-vec).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50"/>
              <a:t>Build interactive What-If scenario simulators (Debt Avalanche/Snowball, Prepay vs Invest, FIRE corpus, Emergency Runway).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50"/>
              <a:t>Deploy an intuitive cockpit with an ask-anywhere AI copilot, hands-free voice recognition, and 1-click CA audit handoff dossier.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600" y="6324600"/>
            <a:ext cx="3086100" cy="365125"/>
          </a:xfrm>
        </p:spPr>
        <p:txBody>
          <a:bodyPr/>
          <a:lstStyle/>
          <a:p>
            <a:pPr algn="l"/>
            <a:r>
              <a:rPr lang="pt-BR" sz="1400" dirty="0" smtClean="0">
                <a:solidFill>
                  <a:schemeClr val="bg1"/>
                </a:solidFill>
              </a:rPr>
              <a:t>Mini-project, T.Y., CCE, Sem. V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2057400" cy="365125"/>
          </a:xfrm>
        </p:spPr>
        <p:txBody>
          <a:bodyPr/>
          <a:lstStyle/>
          <a:p>
            <a:fld id="{45893DA4-B502-453E-852B-0F64D80C69AF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ns2:creationId val="52510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ns2:creationId id="{AABBBE32-D031-4A85-A62A-0A75A9C4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Literature Survey\Field study\Field Survey</a:t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1800" b="1" dirty="0" smtClean="0"/>
              <a:t>[10 marks, each group member needs to be present </a:t>
            </a:r>
            <a:r>
              <a:rPr lang="en-US" sz="1800" b="1" smtClean="0"/>
              <a:t>and participate, </a:t>
            </a:r>
            <a:r>
              <a:rPr lang="en-US" sz="1800" b="1" dirty="0" smtClean="0"/>
              <a:t>28-7 to 1-8-25]</a:t>
            </a:r>
            <a:endParaRPr lang="en-IN" sz="1800" b="1" dirty="0"/>
          </a:p>
        </p:txBody>
      </p:sp>
      <p:graphicFrame>
        <p:nvGraphicFramePr>
          <p:cNvPr id="3" name="Table 3">
            <a:extLst>
              <a:ext uri="{FF2B5EF4-FFF2-40B4-BE49-F238E27FC236}">
                <ns2:creationId id="{72C69E6B-3D4F-47AC-8F69-8E26EF022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ns3:modId val="4074116120"/>
              </p:ext>
            </p:extLst>
          </p:nvPr>
        </p:nvGraphicFramePr>
        <p:xfrm>
          <a:off x="152398" y="1219200"/>
          <a:ext cx="8915401" cy="3405876"/>
        </p:xfrm>
        <a:graphic>
          <a:graphicData uri="http://schemas.openxmlformats.org/drawingml/2006/table">
            <a:tbl>
              <a:tblPr firstRow="1" bandRow="1"/>
              <a:tblGrid>
                <a:gridCol w="762002">
                  <a:extLst>
                    <a:ext uri="{9D8B030D-6E8A-4147-A177-3AD203B41FA5}">
                      <ns2:colId val="2031127026"/>
                    </a:ext>
                  </a:extLst>
                </a:gridCol>
                <a:gridCol w="1711134">
                  <a:extLst>
                    <a:ext uri="{9D8B030D-6E8A-4147-A177-3AD203B41FA5}">
                      <ns2:colId val="2731165126"/>
                    </a:ext>
                  </a:extLst>
                </a:gridCol>
                <a:gridCol w="1259661">
                  <a:extLst>
                    <a:ext uri="{9D8B030D-6E8A-4147-A177-3AD203B41FA5}">
                      <ns2:colId val="421937056"/>
                    </a:ext>
                  </a:extLst>
                </a:gridCol>
                <a:gridCol w="2972805">
                  <a:extLst>
                    <a:ext uri="{9D8B030D-6E8A-4147-A177-3AD203B41FA5}">
                      <ns2:colId val="2179582520"/>
                    </a:ext>
                  </a:extLst>
                </a:gridCol>
                <a:gridCol w="2209799">
                  <a:extLst>
                    <a:ext uri="{9D8B030D-6E8A-4147-A177-3AD203B41FA5}">
                      <ns2:colId val="3530698938"/>
                    </a:ext>
                  </a:extLst>
                </a:gridCol>
              </a:tblGrid>
              <a:tr h="450000"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/>
                        <a:t>Paper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/>
                        <a:t>Model used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/>
                        <a:t>Dataset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/>
                        <a:t>Results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/>
                        <a:t>Remarks</a:t>
                      </a:r>
                    </a:p>
                  </a:txBody>
                </a:tc>
              </a:tr>
              <a:tr h="750000"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[1] Touvron et al. (Meta AI, 2023)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Quantized LLaMA 8B/3B (GGUF via Ollama)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2.0T Token Web Corpus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High-efficiency local inference on edge consumer hardware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Adopted as Halo's offline conversational engine</a:t>
                      </a:r>
                    </a:p>
                  </a:txBody>
                </a:tc>
              </a:tr>
              <a:tr h="750000"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[2] Lewis et al. (NeurIPS, 2020)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Retrieval-Augmented Generation (RAG)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Wikipedia / MS-MARCO QA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Grounded semantic retrieval without data egress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Adapted for CAS &amp; statement search via sqlite-vec</a:t>
                      </a:r>
                    </a:p>
                  </a:txBody>
                </a:tc>
              </a:tr>
              <a:tr h="750000"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[3] Wu et al. (LangChain, 2024)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LangGraph Cyclic State Graphs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Multi-turn Financial Dialog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Guaranteed deterministic state transitions and schema validation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Powers Halo's Pydantic pre-validation gatekeeper</a:t>
                      </a:r>
                    </a:p>
                  </a:txBody>
                </a:tc>
              </a:tr>
              <a:tr h="750000"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[4] Acharya &amp; Sharma (IEEE, 2023)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Rule-based Expert System for Wealth Advisory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Indian Retail Banking Data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82% accuracy in tax regime recommendation</a:t>
                      </a:r>
                    </a:p>
                  </a:txBody>
                </a:tc>
                <a:tc>
                  <a:tcPr marL="68580" marR="68580"/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Shows need for dynamic JSON rules over hardcoded slabs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ns2:creationId id="{5F74432D-4D7B-44A9-9E79-399FBD64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04D9D-9C42-4D5A-9F15-475767C3FE4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600" y="6324600"/>
            <a:ext cx="3086100" cy="365125"/>
          </a:xfrm>
        </p:spPr>
        <p:txBody>
          <a:bodyPr/>
          <a:lstStyle/>
          <a:p>
            <a:pPr algn="l"/>
            <a:r>
              <a:rPr lang="pt-BR" sz="1400" dirty="0" smtClean="0">
                <a:solidFill>
                  <a:schemeClr val="bg1"/>
                </a:solidFill>
              </a:rPr>
              <a:t>Mini-project, T.Y., CCE, Sem. V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4"/>
          <p:cNvSpPr txBox="1">
            <a:spLocks/>
          </p:cNvSpPr>
          <p:nvPr/>
        </p:nvSpPr>
        <p:spPr>
          <a:xfrm>
            <a:off x="6934200" y="6324600"/>
            <a:ext cx="2057400" cy="365125"/>
          </a:xfrm>
          <a:prstGeom prst="rect">
            <a:avLst/>
          </a:prstGeom>
        </p:spPr>
        <p:txBody>
          <a:bodyPr vert="horz" lIns="91430" tIns="45718" rIns="91430" bIns="45718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893DA4-B502-453E-852B-0F64D80C69AF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799" y="5181600"/>
            <a:ext cx="3116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slides as per requirement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3:creationId val="125498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Refined Problem statement</a:t>
            </a:r>
            <a:br>
              <a:rPr lang="en-US" dirty="0" smtClean="0"/>
            </a:br>
            <a:r>
              <a:rPr lang="en-US" sz="2200" b="1" dirty="0" smtClean="0"/>
              <a:t>[ 10 marks, To be presented &amp; submitted during 4-8 to </a:t>
            </a:r>
            <a:r>
              <a:rPr lang="en-US" sz="2200" b="1" dirty="0" smtClean="0"/>
              <a:t> 8-8-25</a:t>
            </a:r>
            <a:r>
              <a:rPr lang="en-US" sz="2200" b="1" dirty="0" smtClean="0"/>
              <a:t>]</a:t>
            </a:r>
            <a:br>
              <a:rPr lang="en-US" sz="2200" b="1" dirty="0" smtClean="0"/>
            </a:br>
            <a:endParaRPr lang="en-IN" sz="22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600" y="6324600"/>
            <a:ext cx="3086100" cy="365125"/>
          </a:xfrm>
        </p:spPr>
        <p:txBody>
          <a:bodyPr/>
          <a:lstStyle/>
          <a:p>
            <a:pPr algn="l"/>
            <a:r>
              <a:rPr lang="pt-BR" sz="1400" dirty="0" smtClean="0">
                <a:solidFill>
                  <a:schemeClr val="bg1"/>
                </a:solidFill>
              </a:rPr>
              <a:t>Mini-project, T.Y., CCE, Sem. V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2057400" cy="365125"/>
          </a:xfrm>
        </p:spPr>
        <p:txBody>
          <a:bodyPr/>
          <a:lstStyle/>
          <a:p>
            <a:fld id="{45893DA4-B502-453E-852B-0F64D80C69AF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371600"/>
            <a:ext cx="7886700" cy="5110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sz="1300"/>
              <a:t>Refined Problem Statement: </a:t>
            </a:r>
            <a:r>
              <a:rPr lang="en-US" sz="1300"/>
              <a:t>"How to engineer a verifiable, air-gapped personal wealth intelligence cockpit for Indian taxpayers that couples local LLMs for natural language interaction with 100% deterministic Python math engines for statutory tax optimization, debt strategy, and portfolio analytics with zero external data egress."</a:t>
            </a:r>
          </a:p>
          <a:p>
            <a:pPr marL="0" indent="0">
              <a:buNone/>
            </a:pPr>
            <a:r>
              <a:rPr lang="en-US" b="1" sz="1250"/>
              <a:t>Objectives: </a:t>
            </a:r>
            <a:r>
              <a:rPr lang="en-US" sz="1250"/>
              <a:t>1. Verifiable 0-byte egress privacy  |  2. Pure Python deterministic math  |  3. Dynamic JSON tax rules  |  4. Local sqlite-vec RAG</a:t>
            </a:r>
          </a:p>
          <a:p>
            <a:pPr marL="0" indent="0">
              <a:buNone/>
            </a:pPr>
            <a:r>
              <a:rPr lang="en-US" b="1" sz="1250"/>
              <a:t>Abstract: </a:t>
            </a:r>
            <a:r>
              <a:rPr lang="en-US" sz="1250"/>
              <a:t>Halo is an offline-first AI wealth intelligence assistant. By strictly decoupling NLP from math, Halo uses local quantized LLMs solely for intent extraction and narration, while delegating 100% of tax, loan, and portfolio math to deterministic Python engines. Features dual-regime tax optimization, CAS statement vector search, What-If simulators, and a 1-click CA handoff dossier.</a:t>
            </a:r>
          </a:p>
          <a:p>
            <a:pPr marL="0" indent="0">
              <a:buNone/>
            </a:pPr>
            <a:r>
              <a:rPr lang="en-US" b="1" sz="1250"/>
              <a:t>Budget &amp; Requirements (₹0.00): </a:t>
            </a:r>
            <a:r>
              <a:rPr lang="en-US" sz="1250"/>
              <a:t>Consumer PC/Mac (Min 8GB RAM, 4GB SSD)  |  Software: Python 3.11, Node 20, Ollama, SQLite, React, Vite  |  Total Budget: ₹0.00 (100% FOSS &amp; local)</a:t>
            </a:r>
          </a:p>
          <a:p>
            <a:pPr marL="0" indent="0">
              <a:buNone/>
            </a:pPr>
            <a:r>
              <a:rPr lang="en-US" b="1" sz="1250"/>
              <a:t>Timeline: </a:t>
            </a:r>
            <a:r>
              <a:rPr lang="en-US" sz="1250"/>
              <a:t>Jul: Tax Engine &amp; Rules  ➔  Aug: Document RAG &amp; sqlite-vec  ➔  Sep: What-If Engines  ➔  Oct: UI &amp; Voice  ➔  Nov: CA Dossier &amp; Final Report</a:t>
            </a:r>
          </a:p>
        </p:txBody>
      </p:sp>
    </p:spTree>
    <p:extLst>
      <p:ext uri="{BB962C8B-B14F-4D97-AF65-F5344CB8AC3E}">
        <ns2:creationId val="328686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667000"/>
            <a:ext cx="7886700" cy="1325563"/>
          </a:xfrm>
        </p:spPr>
        <p:txBody>
          <a:bodyPr>
            <a:normAutofit/>
          </a:bodyPr>
          <a:lstStyle/>
          <a:p>
            <a:pPr algn="ctr" marL="0" indent="0">
              <a:buNone/>
            </a:pPr>
            <a:r>
              <a:rPr lang="en-US" sz="2600"/>
              <a:t>Project Review 1</a:t>
            </a:r>
          </a:p>
          <a:p>
            <a:pPr algn="ctr" marL="0" indent="0">
              <a:buNone/>
            </a:pPr>
            <a:r>
              <a:rPr lang="en-US" sz="1600"/>
              <a:t>[5 marks] Architecture, Methodology &amp; System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267293438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z="1350"/>
              <a:t>Introduction: </a:t>
            </a:r>
            <a:r>
              <a:rPr lang="en-US" sz="1350"/>
              <a:t>Halo eliminates fintech cloud surveillance risks by processing all intelligence 100% locally.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Proposed Solution: </a:t>
            </a:r>
            <a:r>
              <a:rPr lang="en-US" sz="1300"/>
              <a:t>React/Vite/Tailwind UI  &lt;--&gt;  FastAPI Backend  &lt;--&gt;  SQLite/sqlite-vec + Ollama LLM.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Pipeline Flow: </a:t>
            </a:r>
            <a:r>
              <a:rPr lang="en-US" sz="1300"/>
              <a:t>User Query ➔ LangGraph State Router ➔ Pydantic Validation Node ➔ Pure Python Math Engine ➔ Narrative Synthesis.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Methodology: </a:t>
            </a:r>
            <a:r>
              <a:rPr lang="en-US" sz="1300"/>
              <a:t>Strict deterministic decoupling: LLM never calculates numbers; validation gatekeeper enforces strict type &amp; unit bounds.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HW/SW/Dataset: </a:t>
            </a:r>
            <a:r>
              <a:rPr lang="en-US" sz="1300"/>
              <a:t>Apple Silicon / x86 CPU; Python 3.11, FastAPI, React 18, Vite; 100+ synthetic taxpayer golden profiles, AMFI NAV feeds.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Initial Results: </a:t>
            </a:r>
            <a:r>
              <a:rPr lang="en-US" sz="1300"/>
              <a:t>42/42 backend pytest unit tests passing with zero network egress asserted; exact tax slab monotonicity confirmed.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44083062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667000"/>
            <a:ext cx="7886700" cy="1325563"/>
          </a:xfrm>
        </p:spPr>
        <p:txBody>
          <a:bodyPr>
            <a:normAutofit fontScale="90000"/>
          </a:bodyPr>
          <a:lstStyle/>
          <a:p>
            <a:pPr algn="ctr" marL="0" indent="0">
              <a:buNone/>
            </a:pPr>
            <a:r>
              <a:rPr lang="en-US" sz="2600"/>
              <a:t>Project Review 2</a:t>
            </a:r>
          </a:p>
          <a:p>
            <a:pPr algn="ctr" marL="0" indent="0">
              <a:buNone/>
            </a:pPr>
            <a:r>
              <a:rPr lang="en-US" sz="1600"/>
              <a:t>(5 marks) Implementation, Intermediate Testing &amp; Iteration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2609840625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sz="1300"/>
              <a:t>Statutory Revisions: </a:t>
            </a:r>
            <a:r>
              <a:rPr lang="en-US" sz="1300"/>
              <a:t>Budget 2024 New Regime updates (Std Ded ₹75k, Sec 87A rebate up to ₹7L with marginal relief, Sec 112A LTCG ₹1.25L).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Rules Verification: </a:t>
            </a:r>
            <a:r>
              <a:rPr lang="en-US" sz="1300"/>
              <a:t>Added 'Verified vs Unverified' status layer with statutory URLs preparing for the Income-tax Act 2025 transition.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Parser Hardening: </a:t>
            </a:r>
            <a:r>
              <a:rPr lang="en-US" sz="1300"/>
              <a:t>Implemented malformed JSON fallback repair in LLM response parser preventing chat UI disruption.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Tax Optimization: </a:t>
            </a:r>
            <a:r>
              <a:rPr lang="en-US" sz="1300"/>
              <a:t>Dual-regime optimizer accurately computes breakeven deduction threshold (₹3.75 Lakhs) between Old and New regimes.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Visualizer: </a:t>
            </a:r>
            <a:r>
              <a:rPr lang="en-US" sz="1300"/>
              <a:t>Real-time Money Flow visualization clearly maps Income ➔ Tax ➔ Investments ➔ Loans ➔ Living expenses.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Debt Analytics: </a:t>
            </a:r>
            <a:r>
              <a:rPr lang="en-US" sz="1300"/>
              <a:t>Debt Snowball vs Avalanche accurately models interest savings and early debt-free schedules.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1095363907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09800"/>
            <a:ext cx="7886700" cy="1325563"/>
          </a:xfrm>
        </p:spPr>
        <p:txBody>
          <a:bodyPr>
            <a:normAutofit/>
          </a:bodyPr>
          <a:lstStyle/>
          <a:p>
            <a:pPr algn="ctr" marL="0" indent="0">
              <a:buNone/>
            </a:pPr>
            <a:r>
              <a:rPr lang="en-US" sz="2600"/>
              <a:t>Testing and Results</a:t>
            </a:r>
          </a:p>
          <a:p>
            <a:pPr algn="ctr" marL="0" indent="0">
              <a:buNone/>
            </a:pPr>
            <a:r>
              <a:rPr lang="en-US" sz="1600"/>
              <a:t>Comprehensive Verification, Egress Audits &amp; Latency Benchmarks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600" y="6324600"/>
            <a:ext cx="3086100" cy="365125"/>
          </a:xfrm>
        </p:spPr>
        <p:txBody>
          <a:bodyPr/>
          <a:lstStyle/>
          <a:p>
            <a:pPr algn="l"/>
            <a:r>
              <a:rPr lang="pt-BR" sz="1400" dirty="0" smtClean="0">
                <a:solidFill>
                  <a:schemeClr val="bg1"/>
                </a:solidFill>
              </a:rPr>
              <a:t>Mini-project, T.Y., CCE, Sem. V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2057400" cy="365125"/>
          </a:xfrm>
        </p:spPr>
        <p:txBody>
          <a:bodyPr/>
          <a:lstStyle/>
          <a:p>
            <a:fld id="{45893DA4-B502-453E-852B-0F64D80C69AF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ns2:creationId val="131035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sz="1300"/>
              <a:t>Pytest Suite: </a:t>
            </a:r>
            <a:r>
              <a:rPr lang="en-US" sz="1300"/>
              <a:t>42 pytest backend tests covering slab monotonicity, advance tax interest (234B/C), and loan amortization schedules.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Security Audit: </a:t>
            </a:r>
            <a:r>
              <a:rPr lang="en-US" sz="1300"/>
              <a:t>Custom socket-level egress blocker asserting zero outbound HTTP/TCP requests during active inference.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Math Latency: </a:t>
            </a:r>
            <a:r>
              <a:rPr lang="en-US" sz="1300"/>
              <a:t>Deterministic tax &amp; financial math execution runs in &lt; 15ms; What-If Monte Carlo simulation completes in &lt; 25ms.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LLM Latency: </a:t>
            </a:r>
            <a:r>
              <a:rPr lang="en-US" sz="1300"/>
              <a:t>Local quantized LLM (Llama 3.2 3B) inference takes 1.2s - 2.5s on local GPU/NPU.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Document Parser: </a:t>
            </a:r>
            <a:r>
              <a:rPr lang="en-US" sz="1300"/>
              <a:t>Enhanced CAS statement parser with regex fallbacks for varied AMFI/CAMS statement formats.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Voice Engine: </a:t>
            </a:r>
            <a:r>
              <a:rPr lang="en-US" sz="1300"/>
              <a:t>Introduced hands-free voice input with auto-dispatch after 3-second silence detection.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532080058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0"/>
            <a:ext cx="7886700" cy="1325563"/>
          </a:xfrm>
        </p:spPr>
        <p:txBody>
          <a:bodyPr/>
          <a:lstStyle/>
          <a:p>
            <a:pPr algn="ctr" marL="0" indent="0">
              <a:buNone/>
            </a:pPr>
            <a:r>
              <a:rPr lang="en-US" sz="2600"/>
              <a:t>Project Review 3</a:t>
            </a:r>
          </a:p>
          <a:p>
            <a:pPr algn="ctr" marL="0" indent="0">
              <a:buNone/>
            </a:pPr>
            <a:r>
              <a:rPr lang="en-US" sz="1600"/>
              <a:t>(10 marks) Final Integration, Objectives Achievement &amp; Demonstration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1393043759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sz="1300"/>
              <a:t>100% On-Device Privacy: </a:t>
            </a:r>
            <a:r>
              <a:rPr lang="en-US" sz="1300"/>
              <a:t>Network inspection confirms 0 bytes sent over Internet; all databases stay local in SQLite.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Deterministic Parity: </a:t>
            </a:r>
            <a:r>
              <a:rPr lang="en-US" sz="1300"/>
              <a:t>100/100 golden test cases matched against government IT portal with ₹0 discrepancy.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Document Intelligence: </a:t>
            </a:r>
            <a:r>
              <a:rPr lang="en-US" sz="1300"/>
              <a:t>Extracted mutual fund folios from CAS PDFs into local vector DB (sqlite-vec) with semantic search.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What-If Simulators: </a:t>
            </a:r>
            <a:r>
              <a:rPr lang="en-US" sz="1300"/>
              <a:t>Accurately compares Debt Prepayment vs Equity SIP returns based on real loan amortization schedules.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CA Audit Dossier: </a:t>
            </a:r>
            <a:r>
              <a:rPr lang="en-US" sz="1300"/>
              <a:t>Generates print-ready multi-schedule audit handoff PDF in 1 click.</a:t>
            </a:r>
          </a:p>
          <a:p>
            <a:pPr marL="0" indent="0">
              <a:buNone/>
            </a:pPr>
            <a:r>
              <a:rPr lang="en-US" b="1" sz="1300"/>
              <a:t>Conclusion: </a:t>
            </a:r>
            <a:r>
              <a:rPr lang="en-US" sz="1300"/>
              <a:t>Proves that high-precision financial AI does not require sacrificing privacy to cloud servers. Deterministic decoupling eliminates generative hallucinations entirely, making Halo reliable and audit-ready.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3776613130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90800"/>
            <a:ext cx="7886700" cy="1325563"/>
          </a:xfrm>
        </p:spPr>
        <p:txBody>
          <a:bodyPr/>
          <a:lstStyle/>
          <a:p>
            <a:pPr algn="ctr" marL="0" indent="0">
              <a:buNone/>
            </a:pPr>
            <a:r>
              <a:rPr lang="en-US" sz="2600"/>
              <a:t>Report Preparation and Submission</a:t>
            </a:r>
          </a:p>
          <a:p>
            <a:pPr algn="ctr" marL="0" indent="0">
              <a:buNone/>
            </a:pPr>
            <a:r>
              <a:rPr lang="en-US" sz="1600"/>
              <a:t>(Report typed on A-4 pages to be displayed)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718205752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sz="1300"/>
              <a:t>Report Verification: </a:t>
            </a:r>
            <a:r>
              <a:rPr lang="en-US" sz="1300"/>
              <a:t>Front Pages formatted strictly as per university guidelines: Title cover, Certificate, Examiner Approval, Declaration, Abstract, Contents, List of Figures, List of Tables, Nomenclature.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Report Compliance: </a:t>
            </a:r>
            <a:r>
              <a:rPr lang="en-US" sz="1300"/>
              <a:t>Full Project Report compiled with all 5 core chapters, box templates ('This chapter presents...'), 1.5 line spacing, Times New Roman (12pt body, 14pt headings), 15 academic references, and appendix.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Component/Hardware Bill: </a:t>
            </a:r>
            <a:r>
              <a:rPr lang="en-US" sz="1300"/>
              <a:t>Total Project Expenditure: ₹0.00 (Nil bill). System engineered entirely with FOSS tools on existing personal hardware.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Laboratory Equipment: </a:t>
            </a:r>
            <a:r>
              <a:rPr lang="en-US" sz="1300"/>
              <a:t>Nil (No physical laboratory equipment or hardware borrowed).</a:t>
            </a:r>
          </a:p>
          <a:p>
            <a:pPr marL="285750" indent="-285750">
              <a:buFont typeface="Arial"/>
              <a:buChar char="•"/>
            </a:pPr>
            <a:r>
              <a:rPr lang="en-US" b="1" sz="1300"/>
              <a:t>Final Deliverables: </a:t>
            </a:r>
            <a:r>
              <a:rPr lang="en-US" sz="1300"/>
              <a:t>Codebase, automated test suites, documentation, front pages report, main project report, and review presentation finalized in repository.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>
                <a:solidFill>
                  <a:prstClr val="black">
                    <a:tint val="75000"/>
                  </a:prstClr>
                </a:solidFill>
              </a:rPr>
              <a:t>Mini-project, T.Y., CCE, Sem. V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93DA4-B502-453E-852B-0F64D80C69A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ns2:creationId val="16121406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335</Words>
  <Application>Microsoft Office PowerPoint</Application>
  <PresentationFormat>On-screen Show (4:3)</PresentationFormat>
  <Paragraphs>87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1_Office Theme</vt:lpstr>
      <vt:lpstr> T.Y., B.Tech., CCE, Semester V Mini- Project  July- November,2025 Group Number:__ Group members: 123456789, Abcd Efghighk 987654321, Pqrs Lmnopqr ………..</vt:lpstr>
      <vt:lpstr>Domain &amp; Problem statement</vt:lpstr>
      <vt:lpstr>Objectives </vt:lpstr>
      <vt:lpstr>Literature Survey\Field study\Field Survey  [10 marks, each group member needs to be present and participate, 28-7 to 1-8-25]</vt:lpstr>
      <vt:lpstr> Refined Problem statement [ 10 marks, To be presented &amp; submitted during 4-8 to  8-8-25] </vt:lpstr>
      <vt:lpstr>Project Review 1 [5 marks]</vt:lpstr>
      <vt:lpstr>Content</vt:lpstr>
      <vt:lpstr>Project Review 2 (5 marks) </vt:lpstr>
      <vt:lpstr>Content</vt:lpstr>
      <vt:lpstr>Testing and results</vt:lpstr>
      <vt:lpstr>Content </vt:lpstr>
      <vt:lpstr>Project Review 3 (10 marks)</vt:lpstr>
      <vt:lpstr>Content</vt:lpstr>
      <vt:lpstr>Report preparation and submission (Report typed on A-4 pages to be displayed) </vt:lpstr>
      <vt:lpstr>Content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T.Y., B.Tech., CCE, Semester V  July- November,2025 Group Number: Group members: 123456789, Abcd Efghighk 987654321, Pqrs Lmnopqr</dc:title>
  <dc:creator>Admin</dc:creator>
  <cp:lastModifiedBy>Admin</cp:lastModifiedBy>
  <cp:revision>44</cp:revision>
  <dcterms:created xsi:type="dcterms:W3CDTF">2006-08-16T00:00:00Z</dcterms:created>
  <dcterms:modified xsi:type="dcterms:W3CDTF">2025-07-27T11:07:08Z</dcterms:modified>
</cp:coreProperties>
</file>